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1"/>
  </p:normalViewPr>
  <p:slideViewPr>
    <p:cSldViewPr snapToGrid="0" snapToObjects="1">
      <p:cViewPr varScale="1">
        <p:scale>
          <a:sx n="99" d="100"/>
          <a:sy n="99" d="100"/>
        </p:scale>
        <p:origin x="20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Figure 1. Structure of the Stree Manoraksha Training Program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71800" y="1097280"/>
            <a:ext cx="32004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chemeClr val="tx1"/>
                </a:solidFill>
              </a:rPr>
              <a:t>Nationwide OSC Counsellors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32004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chemeClr val="tx1"/>
                </a:solidFill>
              </a:rPr>
              <a:t>Basic Course
4 × 2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468880"/>
            <a:ext cx="32004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chemeClr val="tx1"/>
                </a:solidFill>
              </a:rPr>
              <a:t>Advanced Certificate Course
6 × 3.5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0"/>
            <a:ext cx="32004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chemeClr val="tx1"/>
                </a:solidFill>
              </a:rPr>
              <a:t>Modules 1–6
(Trauma • Assessment • Interventions • Ethics)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5212080"/>
            <a:ext cx="3657600" cy="1005840"/>
          </a:xfrm>
          <a:prstGeom prst="roundRect">
            <a:avLst/>
          </a:prstGeom>
          <a:solidFill>
            <a:srgbClr val="F5F5F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chemeClr val="tx1"/>
                </a:solidFill>
              </a:rPr>
              <a:t>Teaching Methods:
Didactic • Role-play • Breakout Rooms • Reflection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468880" y="1920240"/>
            <a:ext cx="1188720" cy="5486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1920240"/>
            <a:ext cx="2011680" cy="5486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43400" y="3291840"/>
            <a:ext cx="0" cy="5486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43400" y="4663440"/>
            <a:ext cx="0" cy="5486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971800" y="0"/>
            <a:ext cx="32004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dirty="0">
                <a:solidFill>
                  <a:schemeClr val="tx1"/>
                </a:solidFill>
              </a:rPr>
              <a:t>Participants Enrolled (N = 1404)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1188720"/>
            <a:ext cx="32004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chemeClr val="tx1"/>
                </a:solidFill>
              </a:rPr>
              <a:t>Attended Advanced Course (N = 1109)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2377440"/>
            <a:ext cx="32004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chemeClr val="tx1"/>
                </a:solidFill>
              </a:rPr>
              <a:t>Pre‑Training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566160"/>
            <a:ext cx="32004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chemeClr val="tx1"/>
                </a:solidFill>
              </a:rPr>
              <a:t>Training Intervention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4754880"/>
            <a:ext cx="32004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chemeClr val="tx1"/>
                </a:solidFill>
              </a:rPr>
              <a:t>Post‑Training Assessment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6035040"/>
            <a:ext cx="32004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chemeClr val="tx1"/>
                </a:solidFill>
              </a:rPr>
              <a:t>Matched Sample Included in Analysis (N = 362)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43400" y="822960"/>
            <a:ext cx="0" cy="36576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43400" y="2011680"/>
            <a:ext cx="0" cy="36576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43400" y="3200400"/>
            <a:ext cx="0" cy="36576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43400" y="4389120"/>
            <a:ext cx="0" cy="36576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43400" y="5577840"/>
            <a:ext cx="0" cy="36576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87</Words>
  <Application>Microsoft Macintosh PowerPoint</Application>
  <PresentationFormat>On-screen Show (4:3)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Aana</cp:lastModifiedBy>
  <cp:revision>2</cp:revision>
  <dcterms:created xsi:type="dcterms:W3CDTF">2013-01-27T09:14:16Z</dcterms:created>
  <dcterms:modified xsi:type="dcterms:W3CDTF">2026-02-16T11:27:47Z</dcterms:modified>
  <cp:category/>
</cp:coreProperties>
</file>